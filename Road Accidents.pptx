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1" d="100"/>
          <a:sy n="71" d="100"/>
        </p:scale>
        <p:origin x="6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K%20Computers\Desktop\Present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K%20Computers\Desktop\Presenta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K%20Computers\Desktop\Presentati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[Presentation.xlsx]Road Surface!PivotTable2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'Road Surface'!$B$3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'Road Surface'!$A$4:$A$8</c:f>
              <c:strCache>
                <c:ptCount val="4"/>
                <c:pt idx="0">
                  <c:v>Dry</c:v>
                </c:pt>
                <c:pt idx="1">
                  <c:v>other</c:v>
                </c:pt>
                <c:pt idx="2">
                  <c:v>wet</c:v>
                </c:pt>
                <c:pt idx="3">
                  <c:v>Frost</c:v>
                </c:pt>
              </c:strCache>
            </c:strRef>
          </c:cat>
          <c:val>
            <c:numRef>
              <c:f>'Road Surface'!$B$4:$B$8</c:f>
              <c:numCache>
                <c:formatCode>General</c:formatCode>
                <c:ptCount val="4"/>
                <c:pt idx="0">
                  <c:v>86339</c:v>
                </c:pt>
                <c:pt idx="1">
                  <c:v>102</c:v>
                </c:pt>
                <c:pt idx="2">
                  <c:v>28841</c:v>
                </c:pt>
                <c:pt idx="3">
                  <c:v>5969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500715968"/>
        <c:axId val="-1500715424"/>
      </c:barChart>
      <c:catAx>
        <c:axId val="-1500715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500715424"/>
        <c:crosses val="autoZero"/>
        <c:auto val="1"/>
        <c:lblAlgn val="ctr"/>
        <c:lblOffset val="100"/>
        <c:noMultiLvlLbl val="0"/>
      </c:catAx>
      <c:valAx>
        <c:axId val="-1500715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500715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[Presentation.xlsx]Road Type!PivotTable1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24416535433070866"/>
          <c:y val="2.7777777777777776E-2"/>
          <c:w val="0.70500131233595797"/>
          <c:h val="0.841674686497521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'Road Type'!$B$3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'Road Type'!$A$4:$A$10</c:f>
              <c:strCache>
                <c:ptCount val="6"/>
                <c:pt idx="0">
                  <c:v>other</c:v>
                </c:pt>
                <c:pt idx="1">
                  <c:v>Slip road</c:v>
                </c:pt>
                <c:pt idx="2">
                  <c:v>One way street</c:v>
                </c:pt>
                <c:pt idx="3">
                  <c:v>Roundabout</c:v>
                </c:pt>
                <c:pt idx="4">
                  <c:v>Dual carriageway</c:v>
                </c:pt>
                <c:pt idx="5">
                  <c:v>Single carriageway</c:v>
                </c:pt>
              </c:strCache>
            </c:strRef>
          </c:cat>
          <c:val>
            <c:numRef>
              <c:f>'Road Type'!$B$4:$B$10</c:f>
              <c:numCache>
                <c:formatCode>0.0,"k"</c:formatCode>
                <c:ptCount val="6"/>
                <c:pt idx="0">
                  <c:v>484</c:v>
                </c:pt>
                <c:pt idx="1">
                  <c:v>791</c:v>
                </c:pt>
                <c:pt idx="2">
                  <c:v>3218</c:v>
                </c:pt>
                <c:pt idx="3">
                  <c:v>8114</c:v>
                </c:pt>
                <c:pt idx="4">
                  <c:v>15156</c:v>
                </c:pt>
                <c:pt idx="5">
                  <c:v>93488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-1436029696"/>
        <c:axId val="-1436034592"/>
      </c:barChart>
      <c:catAx>
        <c:axId val="-14360296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36034592"/>
        <c:crosses val="autoZero"/>
        <c:auto val="1"/>
        <c:lblAlgn val="ctr"/>
        <c:lblOffset val="100"/>
        <c:noMultiLvlLbl val="0"/>
      </c:catAx>
      <c:valAx>
        <c:axId val="-143603459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,&quot;k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360296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'Monthly  Trend'!$B$18</c:f>
              <c:strCache>
                <c:ptCount val="1"/>
                <c:pt idx="0">
                  <c:v>2021 casualties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'Monthly  Trend'!$A$19:$A$30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'Monthly  Trend'!$B$19:$B$30</c:f>
              <c:numCache>
                <c:formatCode>General</c:formatCode>
                <c:ptCount val="12"/>
                <c:pt idx="0">
                  <c:v>8041</c:v>
                </c:pt>
                <c:pt idx="1">
                  <c:v>9142</c:v>
                </c:pt>
                <c:pt idx="2">
                  <c:v>10605</c:v>
                </c:pt>
                <c:pt idx="3">
                  <c:v>9746</c:v>
                </c:pt>
                <c:pt idx="4">
                  <c:v>10438</c:v>
                </c:pt>
                <c:pt idx="5">
                  <c:v>10842</c:v>
                </c:pt>
                <c:pt idx="6">
                  <c:v>10567</c:v>
                </c:pt>
                <c:pt idx="7">
                  <c:v>9875</c:v>
                </c:pt>
                <c:pt idx="8">
                  <c:v>11032</c:v>
                </c:pt>
                <c:pt idx="9">
                  <c:v>11443</c:v>
                </c:pt>
                <c:pt idx="10">
                  <c:v>11643</c:v>
                </c:pt>
                <c:pt idx="11">
                  <c:v>7877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'Monthly  Trend'!$C$18</c:f>
              <c:strCache>
                <c:ptCount val="1"/>
                <c:pt idx="0">
                  <c:v>2022 casualties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'Monthly  Trend'!$A$19:$A$30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'Monthly  Trend'!$C$19:$C$30</c:f>
              <c:numCache>
                <c:formatCode>General</c:formatCode>
                <c:ptCount val="12"/>
                <c:pt idx="0">
                  <c:v>8041</c:v>
                </c:pt>
                <c:pt idx="1">
                  <c:v>9142</c:v>
                </c:pt>
                <c:pt idx="2">
                  <c:v>10605</c:v>
                </c:pt>
                <c:pt idx="3">
                  <c:v>9746</c:v>
                </c:pt>
                <c:pt idx="4">
                  <c:v>10438</c:v>
                </c:pt>
                <c:pt idx="5">
                  <c:v>10842</c:v>
                </c:pt>
                <c:pt idx="6">
                  <c:v>10567</c:v>
                </c:pt>
                <c:pt idx="7">
                  <c:v>9875</c:v>
                </c:pt>
                <c:pt idx="8">
                  <c:v>11032</c:v>
                </c:pt>
                <c:pt idx="9">
                  <c:v>11443</c:v>
                </c:pt>
                <c:pt idx="10">
                  <c:v>11643</c:v>
                </c:pt>
                <c:pt idx="11">
                  <c:v>7877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'Monthly  Trend'!$D$18</c:f>
              <c:strCache>
                <c:ptCount val="1"/>
                <c:pt idx="0">
                  <c:v>2023 casualties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'Monthly  Trend'!$A$19:$A$30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'Monthly  Trend'!$D$19:$D$30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436035136"/>
        <c:axId val="-1500714880"/>
      </c:lineChart>
      <c:catAx>
        <c:axId val="-143603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500714880"/>
        <c:crosses val="autoZero"/>
        <c:auto val="1"/>
        <c:lblAlgn val="ctr"/>
        <c:lblOffset val="100"/>
        <c:noMultiLvlLbl val="0"/>
      </c:catAx>
      <c:valAx>
        <c:axId val="-1500714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36035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247780"/>
            <a:ext cx="7766936" cy="1646302"/>
          </a:xfrm>
        </p:spPr>
        <p:txBody>
          <a:bodyPr/>
          <a:lstStyle/>
          <a:p>
            <a:pPr algn="ctr"/>
            <a:r>
              <a:rPr lang="en-US" dirty="0" smtClean="0"/>
              <a:t>Road Accidents</a:t>
            </a:r>
            <a:br>
              <a:rPr lang="en-US" dirty="0" smtClean="0"/>
            </a:br>
            <a:r>
              <a:rPr lang="en-US" dirty="0" smtClean="0"/>
              <a:t>Excel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-</a:t>
            </a:r>
            <a:r>
              <a:rPr lang="en-US" b="1" dirty="0" smtClean="0"/>
              <a:t>BY </a:t>
            </a:r>
            <a:r>
              <a:rPr lang="en-US" b="1" dirty="0" err="1" smtClean="0"/>
              <a:t>Rajeshwari</a:t>
            </a:r>
            <a:endParaRPr lang="en-US" b="1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020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Overview of the Data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dirty="0" smtClean="0">
                <a:solidFill>
                  <a:schemeClr val="bg1"/>
                </a:solidFill>
              </a:rPr>
              <a:t>his </a:t>
            </a:r>
            <a:r>
              <a:rPr lang="en-US" dirty="0">
                <a:solidFill>
                  <a:schemeClr val="bg1"/>
                </a:solidFill>
              </a:rPr>
              <a:t>project demonstrates the entire process of creating an interactive Excel dashboard, covering requirement gathering, data cleaning, analysis, and advanced visualization to deliver actionable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8195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Total Casualties </a:t>
            </a:r>
            <a:r>
              <a:rPr lang="en-US" dirty="0"/>
              <a:t>t</a:t>
            </a:r>
            <a:r>
              <a:rPr lang="en-US" dirty="0" smtClean="0"/>
              <a:t>aken </a:t>
            </a:r>
            <a:r>
              <a:rPr lang="en-US" dirty="0"/>
              <a:t>p</a:t>
            </a:r>
            <a:r>
              <a:rPr lang="en-US" dirty="0" smtClean="0"/>
              <a:t>lace after the accident.</a:t>
            </a:r>
          </a:p>
          <a:p>
            <a:r>
              <a:rPr lang="en-US" dirty="0" smtClean="0"/>
              <a:t>Total Casualties &amp; Percentage of total with respect to accident severity and maximum casualties by type of vehicle.</a:t>
            </a:r>
          </a:p>
          <a:p>
            <a:r>
              <a:rPr lang="en-US" dirty="0" smtClean="0"/>
              <a:t>Total casualties with respect to vehicle type.</a:t>
            </a:r>
          </a:p>
          <a:p>
            <a:r>
              <a:rPr lang="en-US" dirty="0" smtClean="0"/>
              <a:t>Monthly Trend Showing Comparison of casualties for different year,</a:t>
            </a:r>
          </a:p>
          <a:p>
            <a:r>
              <a:rPr lang="en-US" dirty="0" err="1" smtClean="0"/>
              <a:t>Maximun</a:t>
            </a:r>
            <a:r>
              <a:rPr lang="en-US" dirty="0" smtClean="0"/>
              <a:t> casualties by road type.</a:t>
            </a:r>
          </a:p>
          <a:p>
            <a:r>
              <a:rPr lang="en-US" dirty="0" smtClean="0"/>
              <a:t>Distribution of total casualties by road surface.</a:t>
            </a:r>
          </a:p>
          <a:p>
            <a:r>
              <a:rPr lang="en-US" dirty="0" smtClean="0"/>
              <a:t>Relation between casualties by Area/Location &amp; Day/Night.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69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02400" y="627547"/>
            <a:ext cx="27526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Dataset </a:t>
            </a:r>
          </a:p>
        </p:txBody>
      </p:sp>
      <p:sp>
        <p:nvSpPr>
          <p:cNvPr id="5" name="Rectangle 4"/>
          <p:cNvSpPr/>
          <p:nvPr/>
        </p:nvSpPr>
        <p:spPr>
          <a:xfrm>
            <a:off x="968188" y="2447365"/>
            <a:ext cx="813959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No.of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Rows 307974</a:t>
            </a:r>
          </a:p>
          <a:p>
            <a:pPr algn="ctr"/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No.of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Columns  23</a:t>
            </a:r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29" y="1323905"/>
            <a:ext cx="4001245" cy="400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3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77334" y="201706"/>
            <a:ext cx="8596668" cy="968188"/>
          </a:xfrm>
        </p:spPr>
        <p:txBody>
          <a:bodyPr/>
          <a:lstStyle/>
          <a:p>
            <a:r>
              <a:rPr lang="en-US" dirty="0" smtClean="0"/>
              <a:t>Data Analysis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39316"/>
              </p:ext>
            </p:extLst>
          </p:nvPr>
        </p:nvGraphicFramePr>
        <p:xfrm>
          <a:off x="309281" y="1062318"/>
          <a:ext cx="6736977" cy="2001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5761"/>
                <a:gridCol w="4341216"/>
              </a:tblGrid>
              <a:tr h="44375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Row Labels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Sum of Number_of_Casualties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8478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fatal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806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8478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Serious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14203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8478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Slight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106242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03629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Grand Total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121251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63909"/>
              </p:ext>
            </p:extLst>
          </p:nvPr>
        </p:nvGraphicFramePr>
        <p:xfrm>
          <a:off x="4975668" y="3281081"/>
          <a:ext cx="6930465" cy="3418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5216"/>
                <a:gridCol w="4285249"/>
              </a:tblGrid>
              <a:tr h="42622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Row Labels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Sum of Number_of_Casualties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2622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Agricultural vehicle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227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44519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CARS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95720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44519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BUS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4548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44519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VAN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9740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44519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BIKE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10082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44519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OTHERS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934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85369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Grand Total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121251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927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Visualization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Casualties by Road Surface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Casualties by Road Type</a:t>
            </a:r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8916899"/>
              </p:ext>
            </p:extLst>
          </p:nvPr>
        </p:nvGraphicFramePr>
        <p:xfrm>
          <a:off x="403667" y="2673899"/>
          <a:ext cx="4585192" cy="3367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768477641"/>
              </p:ext>
            </p:extLst>
          </p:nvPr>
        </p:nvGraphicFramePr>
        <p:xfrm>
          <a:off x="5088382" y="2524281"/>
          <a:ext cx="4185793" cy="3517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5581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Visualization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1932084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183" y="65024"/>
            <a:ext cx="1865376" cy="186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62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Government Has to prepare Some policy and rule to control the accident.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84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By</a:t>
            </a:r>
            <a:r>
              <a:rPr lang="en-US" sz="3200" b="1" dirty="0" smtClean="0"/>
              <a:t> </a:t>
            </a:r>
            <a:r>
              <a:rPr lang="en-US" sz="3200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Rajeshwari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8073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</TotalTime>
  <Words>185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</vt:lpstr>
      <vt:lpstr>Road Accidents Excel Presentation</vt:lpstr>
      <vt:lpstr>Overview of the Data</vt:lpstr>
      <vt:lpstr>Problem Statement</vt:lpstr>
      <vt:lpstr>PowerPoint Presentation</vt:lpstr>
      <vt:lpstr>Data Analysis</vt:lpstr>
      <vt:lpstr>Data Visualization </vt:lpstr>
      <vt:lpstr>Data Visualization</vt:lpstr>
      <vt:lpstr>Solution </vt:lpstr>
      <vt:lpstr>Thank You All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Accidents Excel Presentation</dc:title>
  <dc:creator>SK Computers</dc:creator>
  <cp:lastModifiedBy>SK Computers</cp:lastModifiedBy>
  <cp:revision>8</cp:revision>
  <dcterms:created xsi:type="dcterms:W3CDTF">2025-09-20T01:54:09Z</dcterms:created>
  <dcterms:modified xsi:type="dcterms:W3CDTF">2025-09-20T03:07:04Z</dcterms:modified>
</cp:coreProperties>
</file>